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9" Type="http://schemas.openxmlformats.org/officeDocument/2006/relationships/slide" Target="slides/slide9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5" Type="http://schemas.openxmlformats.org/officeDocument/2006/relationships/tableStyles" Target="tableStyles.xml" /><Relationship Id="rId12" Type="http://schemas.openxmlformats.org/officeDocument/2006/relationships/slide" Target="slides/slide12.xml" /><Relationship Id="rId3" Type="http://schemas.openxmlformats.org/officeDocument/2006/relationships/slide" Target="slides/slide3.xml" /><Relationship Id="rId14" Type="http://schemas.openxmlformats.org/officeDocument/2006/relationships/presProps" Target="presProps.xml" /><Relationship Id="rId13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133975" y="2219325"/>
            <a:ext cx="1933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600">
                <a:solidFill>
                  <a:srgbClr val="3D7BD9"/>
                </a:solidFill>
                <a:latin typeface="Microsoft YaHei"/>
                <a:ea typeface="Microsoft YaHei"/>
              </a:rPr>
              <a:t>AI </a:t>
            </a:r>
            <a:r>
              <a:rPr lang="zh-CN" sz="1650" spc="600">
                <a:solidFill>
                  <a:srgbClr val="3D7BD9"/>
                </a:solidFill>
                <a:latin typeface="Microsoft YaHei"/>
                <a:ea typeface="Microsoft YaHei"/>
              </a:rPr>
              <a:t>技术可视化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4362450" y="2743200"/>
            <a:ext cx="34671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0E3F8C"/>
                </a:solidFill>
                <a:latin typeface="Microsoft YaHei"/>
                <a:ea typeface="Microsoft YaHei"/>
              </a:rPr>
              <a:t>从黑盒到可解释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5429250" y="3609975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3943350" y="3914775"/>
            <a:ext cx="4305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超会练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动作纠错与食物识别的过程与模型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143000" y="6438900"/>
            <a:ext cx="1962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超会练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智能运动健康小程序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48625" y="6438900"/>
            <a:ext cx="3000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2026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中国国际大学生创新大赛（产业赛道）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71500" y="2838450"/>
            <a:ext cx="381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450">
                <a:solidFill>
                  <a:srgbClr val="E8EFF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3200400"/>
            <a:ext cx="3810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71500" y="3981450"/>
            <a:ext cx="4572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143500" y="2114550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934075" y="2076450"/>
            <a:ext cx="3114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技术总览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934075" y="2438400"/>
            <a:ext cx="3114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一张图看懂产品的采集—分析—反馈链路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143500" y="3181350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934075" y="3143250"/>
            <a:ext cx="2914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动作纠错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934075" y="3505200"/>
            <a:ext cx="2914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从视频到评分纠错的全流程与模型选型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143500" y="4248150"/>
            <a:ext cx="5238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934075" y="4210050"/>
            <a:ext cx="2981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食物识别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934075" y="4572000"/>
            <a:ext cx="2981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从照片到营养数据的云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端双模型链路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0" y="0"/>
            <a:ext cx="12192000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781175" y="23622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0E3F8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953000" y="2314575"/>
            <a:ext cx="6286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1A2230"/>
                </a:solidFill>
                <a:latin typeface="Microsoft YaHei"/>
                <a:ea typeface="Microsoft YaHei"/>
              </a:rPr>
              <a:t>技术总览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4953000" y="3095625"/>
            <a:ext cx="6096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953000" y="3362325"/>
            <a:ext cx="62865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一条链路贯穿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「采集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云端分析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智能反馈」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，让评委一眼看懂产品怎么工作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953000" y="4324350"/>
            <a:ext cx="6286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两大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能力：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动作纠错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食物识别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，均可在下一章逐步拆解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1657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双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能力架构总览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0496550" y="1905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超会练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智能运动健康</a:t>
            </a:r>
            <a:endParaRPr/>
          </a:p>
        </p:txBody>
      </p:sp>
      <p:pic>
        <p:nvPicPr>
          <p:cNvPr id="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723900"/>
            <a:ext cx="11430000" cy="4905375"/>
          </a:xfrm>
          <a:prstGeom prst="rect">
            <a:avLst/>
          </a:prstGeom>
          <a:ln/>
        </p:spPr>
      </p:pic>
      <p:sp>
        <p:nvSpPr>
          <p:cNvPr id="82" name=""/>
          <p:cNvSpPr/>
          <p:nvPr/>
        </p:nvSpPr>
        <p:spPr>
          <a:xfrm rot="0" flipH="0" flipV="0">
            <a:off x="381000" y="5781675"/>
            <a:ext cx="11430000" cy="581025"/>
          </a:xfrm>
          <a:prstGeom prst="roundRect">
            <a:avLst>
              <a:gd name="adj" fmla="val 1311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71500" y="59721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066800" y="5915025"/>
            <a:ext cx="73342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两条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链路共享「采集—分析—反馈」主干；可视化让原本黑盒的处理过程变得可解释、可验证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超会练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智能运动健康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87" name="" descr="&lt;Slide&gt;&#10;  &lt;Box style={{ width: '100%', height: '100%', background: '#FFFFFF', flexDirection: 'column' }}&gt;&#10;    &lt;Box style={{ width: '100%', height: 16, background: '#1E4FA8' }} /&gt;&#10;    &lt;Box style={{ flex: 1, flexDirection: 'row', alignItems: 'center', paddingLeft: 100, paddingRight: 100 }}&gt;&#10;      &lt;Box style={{ width: 420, flexDirection: 'row', alignItems: 'center', justifyContent: 'center' }}&gt;&#10;        &lt;Text style={{ fontSize: 200, fontWeight: 'bold', color: '#0E3F8C' }}&gt;02&lt;/Text&gt;&#10;      &lt;/Box&gt;&#10;      &lt;Box style={{ flex: 1, flexDirection: 'column', gap: 24 }}&gt;&#10;        &lt;Text style={{ fontSize: 48, fontWeight: 'bold', color: '#1A2230' }}&gt;AI 动作纠错&lt;/Text&gt;&#10;        &lt;Box style={{ width: 64, height: 4, background: '#1E4FA8' }} /&gt;&#10;        &lt;Text style={{ fontSize: 20, color: '#4A5568', lineHeight: 1.6 }}&gt;&#10;          从视频到评分纠错的完整处理链：&lt;span style={{ fontWeight: 'bold', color: '#1E4FA8' }}&gt;抽帧 → 姿态估计 → 关节角度 → 评估&lt;/span&gt;&#10;        &lt;/Text&gt;&#10;        &lt;Text style={{ fontSize: 20, color: '#4A5568', lineHeight: 1.6 }}&gt;&#10;          双模型选型：&lt;span style={{ fontWeight: 'bold', color: '#1E4FA8' }}&gt;HRNet-W48&lt;/span&gt; 高精度主模型 + &lt;span style={{ fontWeight: 'bold', color: '#1E4FA8' }}&gt;YOLOv8-Pose&lt;/span&gt; 快速回退&#10;        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0" y="0"/>
            <a:ext cx="12192000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781175" y="23622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0E3F8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953000" y="2495550"/>
            <a:ext cx="6286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3600" b="1">
                <a:solidFill>
                  <a:srgbClr val="1A2230"/>
                </a:solidFill>
                <a:latin typeface="Microsoft YaHei"/>
                <a:ea typeface="Microsoft YaHei"/>
              </a:rPr>
              <a:t>动作纠错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4953000" y="3276600"/>
            <a:ext cx="6096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953000" y="3543300"/>
            <a:ext cx="6286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从视频到评分纠错的完整处理链：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抽帧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姿态估计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关节角度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评估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953000" y="4143375"/>
            <a:ext cx="6286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双模型选型：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HRNet-W48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高精度主模型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YOLOv8-Pose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快速回退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5" name="" descr="&lt;Slide&gt;&#10;  &lt;Box style={{ width: '100%', height: '100%', background: '#FFFFFF', flexDirection: 'column' }}&gt;&#10;    &lt;Box style={{ width: '100%', height: 56, background: '#1E4FA8', flexDirection: 'row', alignItems: 'center', justifyContent: 'space-between', paddingLeft: 40, paddingRight: 40 }}&gt;&#10;      &lt;Text style={{ fontSize: 20, fontWeight: 'bold', color: '#FFFFFF' }}&gt;AI 动作纠错 · 处理流程&lt;/Text&gt;&#10;      &lt;Text style={{ fontSize: 14, color: '#E8EFF8' }}&gt;超会练 · 智能运动健康&lt;/Text&gt;&#10;    &lt;/Box&gt;&#10;    &lt;Box style={{ flex: 1, paddingLeft: 40, paddingRight: 40, paddingTop: 20, paddingBottom: 12, flexDirection: 'column', gap: 16 }}&gt;&#10;      &lt;Box style={{ flex: 1 }}&gt;&#10;        &lt;svg width='100%' height='100%' viewBox='0 0 1200 320'&gt;&#10;          &lt;defs&gt;&#10;            &lt;marker id=&quot;arrow-a6&quot; viewBox=&quot;0 0 10 10&quot; refX=&quot;8&quot; refY=&quot;5&quot; markerWidth=&quot;6&quot; markerHeight=&quot;6&quot; orient=&quot;auto-start-reverse&quot;&gt;&#10;              &lt;path d=&quot;M2 1L8 5L2 9&quot; fill=&quot;none&quot; stroke=&quot;context-stroke&quot; strokeWidth=&quot;1.5&quot; strokeLinecap=&quot;round&quot; strokeLinejoin=&quot;round&quot; /&gt;&#10;            &lt;/marker&gt;&#10;          &lt;/defs&gt;&#10;          &lt;g&gt;&#10;            &lt;rect x=&quot;25&quot; y=&quot;60&quot; width=&quot;190&quot; height=&quot;80&quot; rx=&quot;10&quot; fill=&quot;#E8EFF8&quot; stroke=&quot;#1E4FA8&quot; strokeWidth=&quot;1.5&quot; /&gt;&#10;            &lt;text x=&quot;120&quot; y=&quot;88&quot; textAnchor=&quot;middle&quot; dominantBaseline=&quot;central&quot; fontSize=&quot;22&quot; fontWeight=&quot;bold&quot; fill=&quot;#0E3F8C&quot;&gt;视频输入&lt;/text&gt;&#10;            &lt;text x=&quot;120&quot; y=&quot;116&quot; textAnchor=&quot;middle&quot; dominantBaseline=&quot;central&quot; fontSize=&quot;15&quot; fill=&quot;#4A5568&quot;&gt;手机拍摄&lt;/text&gt;&#10;          &lt;/g&gt;&#10;          &lt;g&gt;&#10;            &lt;rect x=&quot;265&quot; y=&quot;60&quot; width=&quot;190&quot; height=&quot;80&quot; rx=&quot;10&quot; fill=&quot;#E8EFF8&quot; stroke=&quot;#1E4FA8&quot; strokeWidth=&quot;1.5&quot; /&gt;&#10;            &lt;text x=&quot;360&quot; y=&quot;88&quot; textAnchor=&quot;middle&quot; dominantBaseline=&quot;central&quot; fontSize=&quot;22&quot; fontWeight=&quot;bold&quot; fill=&quot;#0E3F8C&quot;&gt;抽帧采样&lt;/text&gt;&#10;            &lt;text x=&quot;360&quot; y=&quot;116&quot; textAnchor=&quot;middle&quot; dominantBaseline=&quot;central&quot; fontSize=&quot;15&quot; fill=&quot;#4A5568&quot;&gt;60 帧&lt;/text&gt;&#10;          &lt;/g&gt;&#10;          &lt;g&gt;&#10;            &lt;rect x=&quot;505&quot; y=&quot;60&quot; width=&quot;190&quot; height=&quot;80&quot; rx=&quot;10&quot; fill=&quot;#E8EFF8&quot; stroke=&quot;#1E4FA8&quot; strokeWidth=&quot;1.5&quot; /&gt;&#10;            &lt;text x=&quot;600&quot; y=&quot;88&quot; textAnchor=&quot;middle&quot; dominantBaseline=&quot;central&quot; fontSize=&quot;22&quot; fontWeight=&quot;bold&quot; fill=&quot;#0E3F8C&quot;&gt;姿态估计&lt;/text&gt;&#10;            &lt;text x=&quot;600&quot; y=&quot;116&quot; textAnchor=&quot;middle&quot; dominantBaseline=&quot;central&quot; fontSize=&quot;15&quot; fill=&quot;#4A5568&quot;&gt;17 关键点&lt;/text&gt;&#10;          &lt;/g&gt;&#10;          &lt;g&gt;&#10;            &lt;rect x=&quot;745&quot; y=&quot;60&quot; width=&quot;190&quot; height=&quot;80&quot; rx=&quot;10&quot; fill=&quot;#E8EFF8&quot; stroke=&quot;#1E4FA8&quot; strokeWidth=&quot;1.5&quot; /&gt;&#10;            &lt;text x=&quot;840&quot; y=&quot;88&quot; textAnchor=&quot;middle&quot; dominantBaseline=&quot;central&quot; fontSize=&quot;22&quot; fontWeight=&quot;bold&quot; fill=&quot;#0E3F8C&quot;&gt;关节角度&lt;/text&gt;&#10;            &lt;text x=&quot;840&quot; y=&quot;116&quot; textAnchor=&quot;middle&quot; dominantBaseline=&quot;central&quot; fontSize=&quot;15&quot; fill=&quot;#4A5568&quot;&gt;膝髋肩&lt;/text&gt;&#10;          &lt;/g&gt;&#10;          &lt;g&gt;&#10;            &lt;rect x=&quot;985&quot; y=&quot;60&quot; width=&quot;190&quot; height=&quot;80&quot; rx=&quot;10&quot; fill=&quot;#E8EFF8&quot; stroke=&quot;#1E4FA8&quot; strokeWidth=&quot;1.5&quot; /&gt;&#10;            &lt;text x=&quot;1080&quot; y=&quot;88&quot; textAnchor=&quot;middle&quot; dominantBaseline=&quot;central&quot; fontSize=&quot;22&quot; fontWeight=&quot;bold&quot; fill=&quot;#0E3F8C&quot;&gt;动作评分&lt;/text&gt;&#10;            &lt;text x=&quot;1080&quot; y=&quot;116&quot; textAnchor=&quot;middle&quot; dominantBaseline=&quot;central&quot; fontSize=&quot;15&quot; fill=&quot;#4A5568&quot;&gt;缺陷+纠错&lt;/text&gt;&#10;          &lt;/g&gt;&#10;          &lt;line x1=&quot;215&quot; y1=&quot;100&quot; x2=&quot;265&quot; y2=&quot;100&quot; stroke=&quot;#8B97A8&quot; strokeWidth=&quot;2&quot; markerEnd=&quot;url(#arrow-a6)&quot; /&gt;&#10;          &lt;line x1=&quot;455&quot; y1=&quot;100&quot; x2=&quot;505&quot; y2=&quot;100&quot; stroke=&quot;#8B97A8&quot; strokeWidth=&quot;2&quot; markerEnd=&quot;url(#arrow-a6)&quot; /&gt;&#10;          &lt;line x1=&quot;695&quot; y1=&quot;100&quot; x2=&quot;745&quot; y2=&quot;100&quot; stroke=&quot;#8B97A8&quot; strokeWidth=&quot;2&quot; markerEnd=&quot;url(#arrow-a6)&quot; /&gt;&#10;          &lt;line x1=&quot;935&quot; y1=&quot;100&quot; x2=&quot;985&quot; y2=&quot;100&quot; stroke=&quot;#8B97A8&quot; strokeWidth=&quot;2&quot; markerEnd=&quot;url(#arrow-a6)&quot; /&gt;&#10;          &lt;line x1=&quot;600&quot; y1=&quot;140&quot; x2=&quot;600&quot; y2=&quot;172&quot; stroke=&quot;#8B97A8&quot; strokeWidth=&quot;1.5&quot; strokeDasharray=&quot;4 3&quot; /&gt;&#10;          &lt;line x1=&quot;490&quot; y1=&quot;172&quot; x2=&quot;830&quot; y2=&quot;172&quot; stroke=&quot;#8B97A8&quot; strokeWidth=&quot;1.5&quot; strokeDasharray=&quot;4 3&quot; /&gt;&#10;          &lt;line x1=&quot;490&quot; y1=&quot;172&quot; x2=&quot;490&quot; y2=&quot;210&quot; stroke=&quot;#8B97A8&quot; strokeWidth=&quot;1.5&quot; strokeDasharray=&quot;4 3&quot; /&gt;&#10;          &lt;line x1=&quot;830&quot; y1=&quot;172&quot; x2=&quot;830&quot; y2=&quot;210&quot; stroke=&quot;#8B97A8&quot; strokeWidth=&quot;1.5&quot; strokeDasharray=&quot;4 3&quot; /&gt;&#10;          &lt;g&gt;&#10;            &lt;rect x=&quot;340&quot; y=&quot;210&quot; width=&quot;300&quot; height=&quot;80&quot; rx=&quot;10&quot; fill=&quot;#F0F5FC&quot; stroke=&quot;#0E3F8C&quot; strokeWidth=&quot;1.5&quot; /&gt;&#10;            &lt;text x=&quot;490&quot; y=&quot;238&quot; textAnchor=&quot;middle&quot; dominantBaseline=&quot;central&quot; fontSize=&quot;21&quot; fontWeight=&quot;bold&quot; fill=&quot;#0E3F8C&quot;&gt;HRNet-W48&lt;/text&gt;&#10;            &lt;text x=&quot;490&quot; y=&quot;266&quot; textAnchor=&quot;middle&quot; dominantBaseline=&quot;central&quot; fontSize=&quot;15&quot; fill=&quot;#4A5568&quot;&gt;高精度 · 主模型&lt;/text&gt;&#10;          &lt;/g&gt;&#10;          &lt;g&gt;&#10;            &lt;rect x=&quot;680&quot; y=&quot;210&quot; width=&quot;300&quot; height=&quot;80&quot; rx=&quot;10&quot; fill=&quot;#F0F5FC&quot; stroke=&quot;#0E3F8C&quot; strokeWidth=&quot;1.5&quot; /&gt;&#10;            &lt;text x=&quot;830&quot; y=&quot;238&quot; textAnchor=&quot;middle&quot; dominantBaseline=&quot;central&quot; fontSize=&quot;21&quot; fontWeight=&quot;bold&quot; fill=&quot;#0E3F8C&quot;&gt;YOLOv8-Pose&lt;/text&gt;&#10;            &lt;text x=&quot;830&quot; y=&quot;266&quot; textAnchor=&quot;middle&quot; dominantBaseline=&quot;central&quot; fontSize=&quot;15&quot; fill=&quot;#4A5568&quot;&gt;快速 · 回退&lt;/text&gt;&#10;          &lt;/g&gt;&#10;        &lt;/svg&gt;&#10;      &lt;/Box&gt;&#10;      &lt;Box style={{ width: '100%', background: '#F0F5FC', borderRadius: 8, paddingLeft: 20, paddingRight: 20, paddingTop: 14, paddingBottom: 14, flexDirection: 'row', alignItems: 'center', gap: 16 }}&gt;&#10;        &lt;Text style={{ fontSize: 18, fontWeight: 'bold', color: '#0E3F8C' }}&gt;结论&lt;/Text&gt;&#10;        &lt;Text style={{ fontSize: 18, color: '#1A2230', lineHeight: 1.5 }}&gt;五步可逐步拆解，非端到端黑盒；关键帧的骨骼定位是动作评估的几何依据&lt;/Text&gt;&#10;      &lt;/Box&gt;&#10;    &lt;/Box&gt;&#10;    &lt;Box style={{ width: '100%', height: 40, flexDirection: 'row', alignItems: 'center', justifyContent: 'space-between', paddingLeft: 40, paddingRight: 40 }}&gt;&#10;      &lt;Text style={{ fontSize: 14, color: '#8B97A8' }}&gt;超会练 · 智能运动健康&lt;/Text&gt;&#10;      &lt;Text style={{ fontSize: 14, color: '#1E4FA8' }}&gt;06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1990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动作纠错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处理流程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0496550" y="1905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超会练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智能运动健康</a:t>
            </a:r>
            <a:endParaRPr/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723900"/>
            <a:ext cx="11430000" cy="4905375"/>
          </a:xfrm>
          <a:prstGeom prst="rect">
            <a:avLst/>
          </a:prstGeom>
          <a:ln/>
        </p:spPr>
      </p:pic>
      <p:sp>
        <p:nvSpPr>
          <p:cNvPr id="101" name=""/>
          <p:cNvSpPr/>
          <p:nvPr/>
        </p:nvSpPr>
        <p:spPr>
          <a:xfrm rot="0" flipH="0" flipV="0">
            <a:off x="381000" y="5781675"/>
            <a:ext cx="11430000" cy="581025"/>
          </a:xfrm>
          <a:prstGeom prst="roundRect">
            <a:avLst>
              <a:gd name="adj" fmla="val 1311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71500" y="59721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066800" y="5915025"/>
            <a:ext cx="56578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五步可逐步拆解，非端到端黑盒；关键帧的骨骼定位是动作评估的几何依据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超会练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智能运动健康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06" name="" descr="&lt;Slide&gt;&#10;  &lt;Box style={{ width: '100%', height: '100%', background: '#FFFFFF', flexDirection: 'column' }}&gt;&#10;    &lt;Box style={{ width: '100%', height: 56, background: '#1E4FA8', flexDirection: 'row', alignItems: 'center', justifyContent: 'space-between', paddingLeft: 40, paddingRight: 40 }}&gt;&#10;      &lt;Text style={{ fontSize: 20, fontWeight: 'bold', color: '#FFFFFF' }}&gt;AI 动作纠错 · 模型对比&lt;/Text&gt;&#10;      &lt;Text style={{ fontSize: 14, color: '#E8EFF8' }}&gt;超会练 · 智能运动健康&lt;/Text&gt;&#10;    &lt;/Box&gt;&#10;    &lt;Box style={{ flex: 1, paddingLeft: 40, paddingRight: 40, paddingTop: 24, paddingBottom: 12, flexDirection: 'row', gap: 24 }}&gt;&#10;      &lt;Box style={{ flex: 3 }}&gt;&#10;        &lt;Table&#10;          style={{ width: '100%', height: '100%' }}&#10;          defaultTextStyle={{ fontSize: 16, textAlign: 'center', color: '#1A2230' }}&#10;          defaultCellStyle={{&#10;            border: {&#10;              left: { width: 1, color: '#D6DCE5' },&#10;              right: { width: 1, color: '#D6DCE5' },&#10;              top: { width: 1, color: '#D6DCE5' },&#10;              bottom: { width: 1, color: '#D6DCE5' },&#10;            },&#10;          }}&#10;          cells={[&#10;            [&#10;              { text: '维度', textStyle: { bold: true, color: '#FFFFFF' }, cellStyle: { background: { color: '#1E4FA8' } } },&#10;              { text: 'HRNet-W48', textStyle: { bold: true, color: '#FFFFFF' }, cellStyle: { background: { color: '#1E4FA8' } } },&#10;              { text: 'YOLOv8-Pose', textStyle: { bold: true, color: '#FFFFFF' }, cellStyle: { background: { color: '#1E4FA8' } } },&#10;            ],&#10;            [&#10;              { text: '角色', textStyle: { bold: true, color: '#0E3F8C' } },&#10;              '高精度主模型',&#10;              '快速回退模型',&#10;            ],&#10;            [&#10;              { text: '关键点精度', textStyle: { bold: true, color: '#0E3F8C' }, cellStyle: { background: { color: '#F0F5FC' } } },&#10;              { text: '高 · 保持高分辨率特征', cellStyle: { background: { color: '#F0F5FC' } } },&#10;              { text: '中 · 单阶段端到端', cellStyle: { background: { color: '#F0F5FC' } } },&#10;            ],&#10;            [&#10;              { text: '推理速度', textStyle: { bold: true, color: '#0E3F8C' } },&#10;              '慢 · 需 GPU',&#10;              '快 · CPU 可跑',&#10;            ],&#10;            [&#10;              { text: '当前部署', textStyle: { bold: true, color: '#0E3F8C' }, cellStyle: { background: { color: '#F0F5FC' } } },&#10;              { text: '本地训练 / 评估', cellStyle: { background: { color: '#F0F5FC' } } },&#10;              { text: '线上已部署 onnx', cellStyle: { background: { color: '#F0F5FC' } } },&#10;            ],&#10;          ]}&#10;        /&gt;&#10;      &lt;/Box&gt;&#10;      &lt;Box style={{ flex: 2, background: '#F7F9FC', borderRadius: 8, padding: 28, flexDirection: 'column', gap: 20, border: '1px solid #D6DCE5' }}&gt;&#10;        &lt;Text style={{ fontSize: 26, fontWeight: 'bold', color: '#0E3F8C' }}&gt;工程化选型&lt;/Text&gt;&#10;        &lt;Box style={{ width: 48, height: 4, background: '#1E4FA8' }} /&gt;&#10;        &lt;Text style={{ fontSize: 18, color: '#4A5568', lineHeight: 1.7 }}&gt;&#10;          精度优先时走 &lt;span style={{ fontWeight: 'bold', color: '#1E4FA8' }}&gt;HRNet&lt;/span&gt; 高精度主模型；追求响应速度时降级 &lt;span style={{ fontWeight: 'bold', color: '#1E4FA8' }}&gt;YOLOv8-Pose&lt;/span&gt;&#10;        &lt;/Text&gt;&#10;        &lt;Text style={{ fontSize: 18, color: '#1A2230', lineHeight: 1.7, fontWeight: 'bold' }}&gt;&#10;          「主 + 回退」混合策略——不是单一模型，更不是调 API 交差&#10;        &lt;/Text&gt;&#10;        &lt;Box style={{ marginTop: 'auto', background: '#E8EFF8', borderRadius: 6, paddingLeft: 16, paddingRight: 16, paddingTop: 12, paddingBottom: 12 }}&gt;&#10;          &lt;Text style={{ fontSize: 16, color: '#1E4FA8', lineHeight: 1.5 }}&gt;依据动作复杂度与设备算力动态选择，兼顾精度与实时性&lt;/Text&gt;&#10;        &lt;/Box&gt;&#10;      &lt;/Box&gt;&#10;    &lt;/Box&gt;&#10;    &lt;Box style={{ width: '100%', height: 40, flexDirection: 'row', alignItems: 'center', justifyContent: 'space-between', paddingLeft: 40, paddingRight: 40 }}&gt;&#10;      &lt;Text style={{ fontSize: 14, color: '#8B97A8' }}&gt;超会练 · 智能运动健康&lt;/Text&gt;&#10;      &lt;Text style={{ fontSize: 14, color: '#1E4FA8' }}&gt;07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1990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动作纠错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模型对比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496550" y="1905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超会练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智能运动健康</a:t>
            </a:r>
            <a:endParaRPr/>
          </a:p>
        </p:txBody>
      </p:sp>
      <p:graphicFrame>
        <p:nvGraphicFramePr>
          <p:cNvPr id="111" name=""/>
          <p:cNvGraphicFramePr/>
          <p:nvPr/>
        </p:nvGraphicFramePr>
        <p:xfrm rot="0" flipH="0" flipV="0">
          <a:off x="381000" y="762000"/>
          <a:ext cx="6724650" cy="5600700"/>
        </p:xfrm>
        <a:graphic>
          <a:graphicData uri="http://schemas.openxmlformats.org/drawingml/2006/table">
            <a:tbl>
              <a:tblGrid>
                <a:gridCol w="1533932">
                  <a:extLst>
                    <a:ext uri="{9D8B030D-6E8A-4147-A177-3AD203B41FA5}">
                      <a16:colId val="1"/>
                    </a:ext>
                  </a:extLst>
                </a:gridCol>
                <a:gridCol w="2869275">
                  <a:extLst>
                    <a:ext uri="{9D8B030D-6E8A-4147-A177-3AD203B41FA5}">
                      <a16:colId val="2"/>
                    </a:ext>
                  </a:extLst>
                </a:gridCol>
                <a:gridCol w="232144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1201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HRNet-W48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YOLOv8-Pose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11201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角色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高精度主模型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快速回退模型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11201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关键点精度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高 · 保持高分辨率特征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中 · 单阶段端到端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11201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推理速度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慢 · 需 GPU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快 · CPU 可跑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11201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当前部署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本地训练 / 评估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线上已部署 onnx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12" name=""/>
          <p:cNvSpPr/>
          <p:nvPr/>
        </p:nvSpPr>
        <p:spPr>
          <a:xfrm rot="0" flipH="0" flipV="0">
            <a:off x="7334250" y="762000"/>
            <a:ext cx="4476750" cy="5600700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600950" y="1028700"/>
            <a:ext cx="3943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工程化选型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7600950" y="1524000"/>
            <a:ext cx="4572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600950" y="1752600"/>
            <a:ext cx="39433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精度优先时走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HRNet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高精度主模型；追求响应速度时降级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YOLOv8-Pose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600950" y="2647950"/>
            <a:ext cx="39433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「主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回退」混合策略——不是单一模型，更不是调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API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交差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7600950" y="5314950"/>
            <a:ext cx="3943350" cy="781050"/>
          </a:xfrm>
          <a:prstGeom prst="roundRect">
            <a:avLst>
              <a:gd name="adj" fmla="val 731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753350" y="5429250"/>
            <a:ext cx="3638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依据动作复杂度与设备算力动态选择，兼顾精度与实时性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超会练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智能运动健康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21" name="" descr="&lt;Slide&gt;&#10;  &lt;Box style={{ width: '100%', height: '100%', background: '#FFFFFF', flexDirection: 'column' }}&gt;&#10;    &lt;Box style={{ width: '100%', height: 16, background: '#1E4FA8' }} /&gt;&#10;    &lt;Box style={{ flex: 1, flexDirection: 'row', alignItems: 'center', paddingLeft: 100, paddingRight: 100 }}&gt;&#10;      &lt;Box style={{ width: 420, flexDirection: 'row', alignItems: 'center', justifyContent: 'center' }}&gt;&#10;        &lt;Text style={{ fontSize: 200, fontWeight: 'bold', color: '#0E3F8C' }}&gt;03&lt;/Text&gt;&#10;      &lt;/Box&gt;&#10;      &lt;Box style={{ flex: 1, flexDirection: 'column', gap: 24 }}&gt;&#10;        &lt;Text style={{ fontSize: 48, fontWeight: 'bold', color: '#1A2230' }}&gt;AI 食物识别&lt;/Text&gt;&#10;        &lt;Box style={{ width: 64, height: 4, background: '#1E4FA8' }} /&gt;&#10;        &lt;Text style={{ fontSize: 20, color: '#4A5568', lineHeight: 1.6 }}&gt;&#10;          从照片到营养数据的完整链路：&lt;span style={{ fontWeight: 'bold', color: '#1E4FA8' }}&gt;图像识别 → 食材匹配 → 营养计算 → 一键记录&lt;/span&gt;&#10;        &lt;/Text&gt;&#10;        &lt;Text style={{ fontSize: 20, color: '#4A5568', lineHeight: 1.6 }}&gt;&#10;          云 + 端双模型：&lt;span style={{ fontWeight: 'bold', color: '#1E4FA8' }}&gt;云视觉大模型&lt;/span&gt; 识别任意食物 + &lt;span style={{ fontWeight: 'bold', color: '#1E4FA8' }}&gt;本地 CNN&lt;/span&gt; 离线兜底&#10;        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0" y="0"/>
            <a:ext cx="12192000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781175" y="23622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0E3F8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953000" y="2314575"/>
            <a:ext cx="6286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3600" b="1">
                <a:solidFill>
                  <a:srgbClr val="1A2230"/>
                </a:solidFill>
                <a:latin typeface="Microsoft YaHei"/>
                <a:ea typeface="Microsoft YaHei"/>
              </a:rPr>
              <a:t>食物识别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4953000" y="3095625"/>
            <a:ext cx="6096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953000" y="3362325"/>
            <a:ext cx="62865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从照片到营养数据的完整链路：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图像识别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食材匹配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营养计算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一键记录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953000" y="4324350"/>
            <a:ext cx="62865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云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端双模型：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云视觉大模型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识别任意食物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本地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CNN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离线兜底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9" name="" descr="&lt;Slide&gt;&#10;  &lt;Box style={{ width: '100%', height: '100%', background: '#FFFFFF', flexDirection: 'column' }}&gt;&#10;    &lt;Box style={{ width: '100%', height: 56, background: '#1E4FA8', flexDirection: 'row', alignItems: 'center', justifyContent: 'space-between', paddingLeft: 40, paddingRight: 40 }}&gt;&#10;      &lt;Text style={{ fontSize: 20, fontWeight: 'bold', color: '#FFFFFF' }}&gt;AI 食物识别 · 处理流程&lt;/Text&gt;&#10;      &lt;Text style={{ fontSize: 14, color: '#E8EFF8' }}&gt;超会练 · 智能运动健康&lt;/Text&gt;&#10;    &lt;/Box&gt;&#10;    &lt;Box style={{ flex: 1, paddingLeft: 40, paddingRight: 40, paddingTop: 20, paddingBottom: 12, flexDirection: 'column', gap: 16 }}&gt;&#10;      &lt;Box style={{ flex: 1 }}&gt;&#10;        &lt;svg width='100%' height='100%' viewBox='0 0 1200 320'&gt;&#10;          &lt;defs&gt;&#10;            &lt;marker id=&quot;arrow-a9&quot; viewBox=&quot;0 0 10 10&quot; refX=&quot;8&quot; refY=&quot;5&quot; markerWidth=&quot;6&quot; markerHeight=&quot;6&quot; orient=&quot;auto-start-reverse&quot;&gt;&#10;              &lt;path d=&quot;M2 1L8 5L2 9&quot; fill=&quot;none&quot; stroke=&quot;context-stroke&quot; strokeWidth=&quot;1.5&quot; strokeLinecap=&quot;round&quot; strokeLinejoin=&quot;round&quot; /&gt;&#10;            &lt;/marker&gt;&#10;          &lt;/defs&gt;&#10;          &lt;g&gt;&#10;            &lt;rect x=&quot;25&quot; y=&quot;60&quot; width=&quot;190&quot; height=&quot;80&quot; rx=&quot;10&quot; fill=&quot;#E8EFF8&quot; stroke=&quot;#1E4FA8&quot; strokeWidth=&quot;1.5&quot; /&gt;&#10;            &lt;text x=&quot;120&quot; y=&quot;88&quot; textAnchor=&quot;middle&quot; dominantBaseline=&quot;central&quot; fontSize=&quot;22&quot; fontWeight=&quot;bold&quot; fill=&quot;#0E3F8C&quot;&gt;照片输入&lt;/text&gt;&#10;            &lt;text x=&quot;120&quot; y=&quot;116&quot; textAnchor=&quot;middle&quot; dominantBaseline=&quot;central&quot; fontSize=&quot;15&quot; fill=&quot;#4A5568&quot;&gt;手机拍摄&lt;/text&gt;&#10;          &lt;/g&gt;&#10;          &lt;g&gt;&#10;            &lt;rect x=&quot;265&quot; y=&quot;60&quot; width=&quot;190&quot; height=&quot;80&quot; rx=&quot;10&quot; fill=&quot;#E8EFF8&quot; stroke=&quot;#1E4FA8&quot; strokeWidth=&quot;1.5&quot; /&gt;&#10;            &lt;text x=&quot;360&quot; y=&quot;88&quot; textAnchor=&quot;middle&quot; dominantBaseline=&quot;central&quot; fontSize=&quot;22&quot; fontWeight=&quot;bold&quot; fill=&quot;#0E3F8C&quot;&gt;图像识别&lt;/text&gt;&#10;            &lt;text x=&quot;360&quot; y=&quot;116&quot; textAnchor=&quot;middle&quot; dominantBaseline=&quot;central&quot; fontSize=&quot;15&quot; fill=&quot;#4A5568&quot;&gt;双模型&lt;/text&gt;&#10;          &lt;/g&gt;&#10;          &lt;g&gt;&#10;            &lt;rect x=&quot;505&quot; y=&quot;60&quot; width=&quot;190&quot; height=&quot;80&quot; rx=&quot;10&quot; fill=&quot;#E8EFF8&quot; stroke=&quot;#1E4FA8&quot; strokeWidth=&quot;1.5&quot; /&gt;&#10;            &lt;text x=&quot;600&quot; y=&quot;88&quot; textAnchor=&quot;middle&quot; dominantBaseline=&quot;central&quot; fontSize=&quot;22&quot; fontWeight=&quot;bold&quot; fill=&quot;#0E3F8C&quot;&gt;食材匹配&lt;/text&gt;&#10;            &lt;text x=&quot;600&quot; y=&quot;116&quot; textAnchor=&quot;middle&quot; dominantBaseline=&quot;central&quot; fontSize=&quot;15&quot; fill=&quot;#4A5568&quot;&gt;中国成分表&lt;/text&gt;&#10;          &lt;/g&gt;&#10;          &lt;g&gt;&#10;            &lt;rect x=&quot;745&quot; y=&quot;60&quot; width=&quot;190&quot; height=&quot;80&quot; rx=&quot;10&quot; fill=&quot;#E8EFF8&quot; stroke=&quot;#1E4FA8&quot; strokeWidth=&quot;1.5&quot; /&gt;&#10;            &lt;text x=&quot;840&quot; y=&quot;88&quot; textAnchor=&quot;middle&quot; dominantBaseline=&quot;central&quot; fontSize=&quot;22&quot; fontWeight=&quot;bold&quot; fill=&quot;#0E3F8C&quot;&gt;营养计算&lt;/text&gt;&#10;            &lt;text x=&quot;840&quot; y=&quot;116&quot; textAnchor=&quot;middle&quot; dominantBaseline=&quot;central&quot; fontSize=&quot;15&quot; fill=&quot;#4A5568&quot;&gt;热量蛋白&lt;/text&gt;&#10;          &lt;/g&gt;&#10;          &lt;g&gt;&#10;            &lt;rect x=&quot;985&quot; y=&quot;60&quot; width=&quot;190&quot; height=&quot;80&quot; rx=&quot;10&quot; fill=&quot;#E8EFF8&quot; stroke=&quot;#1E4FA8&quot; strokeWidth=&quot;1.5&quot; /&gt;&#10;            &lt;text x=&quot;1080&quot; y=&quot;88&quot; textAnchor=&quot;middle&quot; dominantBaseline=&quot;central&quot; fontSize=&quot;22&quot; fontWeight=&quot;bold&quot; fill=&quot;#0E3F8C&quot;&gt;一键记录&lt;/text&gt;&#10;            &lt;text x=&quot;1080&quot; y=&quot;116&quot; textAnchor=&quot;middle&quot; dominantBaseline=&quot;central&quot; fontSize=&quot;15&quot; fill=&quot;#4A5568&quot;&gt;热量闭环&lt;/text&gt;&#10;          &lt;/g&gt;&#10;          &lt;line x1=&quot;215&quot; y1=&quot;100&quot; x2=&quot;265&quot; y2=&quot;100&quot; stroke=&quot;#8B97A8&quot; strokeWidth=&quot;2&quot; markerEnd=&quot;url(#arrow-a9)&quot; /&gt;&#10;          &lt;line x1=&quot;455&quot; y1=&quot;100&quot; x2=&quot;505&quot; y2=&quot;100&quot; stroke=&quot;#8B97A8&quot; strokeWidth=&quot;2&quot; markerEnd=&quot;url(#arrow-a9)&quot; /&gt;&#10;          &lt;line x1=&quot;695&quot; y1=&quot;100&quot; x2=&quot;745&quot; y2=&quot;100&quot; stroke=&quot;#8B97A8&quot; strokeWidth=&quot;2&quot; markerEnd=&quot;url(#arrow-a9)&quot; /&gt;&#10;          &lt;line x1=&quot;935&quot; y1=&quot;100&quot; x2=&quot;985&quot; y2=&quot;100&quot; stroke=&quot;#8B97A8&quot; strokeWidth=&quot;2&quot; markerEnd=&quot;url(#arrow-a9)&quot; /&gt;&#10;          &lt;line x1=&quot;360&quot; y1=&quot;140&quot; x2=&quot;360&quot; y2=&quot;172&quot; stroke=&quot;#8B97A8&quot; strokeWidth=&quot;1.5&quot; strokeDasharray=&quot;4 3&quot; /&gt;&#10;          &lt;line x1=&quot;230&quot; y1=&quot;172&quot; x2=&quot;610&quot; y2=&quot;172&quot; stroke=&quot;#8B97A8&quot; strokeWidth=&quot;1.5&quot; strokeDasharray=&quot;4 3&quot; /&gt;&#10;          &lt;line x1=&quot;230&quot; y1=&quot;172&quot; x2=&quot;230&quot; y2=&quot;210&quot; stroke=&quot;#8B97A8&quot; strokeWidth=&quot;1.5&quot; strokeDasharray=&quot;4 3&quot; /&gt;&#10;          &lt;line x1=&quot;610&quot; y1=&quot;172&quot; x2=&quot;610&quot; y2=&quot;210&quot; stroke=&quot;#8B97A8&quot; strokeWidth=&quot;1.5&quot; strokeDasharray=&quot;4 3&quot; /&gt;&#10;          &lt;g&gt;&#10;            &lt;rect x=&quot;60&quot; y=&quot;210&quot; width=&quot;340&quot; height=&quot;80&quot; rx=&quot;10&quot; fill=&quot;#F0F5FC&quot; stroke=&quot;#0E3F8C&quot; strokeWidth=&quot;1.5&quot; /&gt;&#10;            &lt;text x=&quot;230&quot; y=&quot;238&quot; textAnchor=&quot;middle&quot; dominantBaseline=&quot;central&quot; fontSize=&quot;21&quot; fontWeight=&quot;bold&quot; fill=&quot;#0E3F8C&quot;&gt;云视觉大模型&lt;/text&gt;&#10;            &lt;text x=&quot;230&quot; y=&quot;266&quot; textAnchor=&quot;middle&quot; dominantBaseline=&quot;central&quot; fontSize=&quot;15&quot; fill=&quot;#4A5568&quot;&gt;豆包 · 任意食物 · 优先&lt;/text&gt;&#10;          &lt;/g&gt;&#10;          &lt;g&gt;&#10;            &lt;rect x=&quot;440&quot; y=&quot;210&quot; width=&quot;340&quot; height=&quot;80&quot; rx=&quot;10&quot; fill=&quot;#F0F5FC&quot; stroke=&quot;#0E3F8C&quot; strokeWidth=&quot;1.5&quot; /&gt;&#10;            &lt;text x=&quot;610&quot; y=&quot;238&quot; textAnchor=&quot;middle&quot; dominantBaseline=&quot;central&quot; fontSize=&quot;21&quot; fontWeight=&quot;bold&quot; fill=&quot;#0E3F8C&quot;&gt;本地 CNN&lt;/text&gt;&#10;            &lt;text x=&quot;610&quot; y=&quot;266&quot; textAnchor=&quot;middle&quot; dominantBaseline=&quot;central&quot; fontSize=&quot;15&quot; fill=&quot;#4A5568&quot;&gt;208 类 · 离线 · 兜底&lt;/text&gt;&#10;          &lt;/g&gt;&#10;        &lt;/svg&gt;&#10;      &lt;/Box&gt;&#10;      &lt;Box style={{ width: '100%', background: '#F0F5FC', borderRadius: 8, paddingLeft: 20, paddingRight: 20, paddingTop: 14, paddingBottom: 14, flexDirection: 'row', alignItems: 'center', gap: 16 }}&gt;&#10;        &lt;Text style={{ fontSize: 18, fontWeight: 'bold', color: '#0E3F8C' }}&gt;结论&lt;/Text&gt;&#10;        &lt;Text style={{ fontSize: 18, color: '#1A2230', lineHeight: 1.5 }}&gt;识别结果直接换算营养数据，打通「训练消耗—饮食摄入」热量闭环&lt;/Text&gt;&#10;      &lt;/Box&gt;&#10;    &lt;/Box&gt;&#10;    &lt;Box style={{ width: '100%', height: 40, flexDirection: 'row', alignItems: 'center', justifyContent: 'space-between', paddingLeft: 40, paddingRight: 40 }}&gt;&#10;      &lt;Text style={{ fontSize: 14, color: '#8B97A8' }}&gt;超会练 · 智能运动健康&lt;/Text&gt;&#10;      &lt;Text style={{ fontSize: 14, color: '#1E4FA8' }}&gt;09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1990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食物识别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处理流程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0496550" y="1905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超会练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智能运动健康</a:t>
            </a:r>
            <a:endParaRPr/>
          </a:p>
        </p:txBody>
      </p:sp>
      <p:pic>
        <p:nvPicPr>
          <p:cNvPr id="1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723900"/>
            <a:ext cx="11430000" cy="4905375"/>
          </a:xfrm>
          <a:prstGeom prst="rect">
            <a:avLst/>
          </a:prstGeom>
          <a:ln/>
        </p:spPr>
      </p:pic>
      <p:sp>
        <p:nvSpPr>
          <p:cNvPr id="135" name=""/>
          <p:cNvSpPr/>
          <p:nvPr/>
        </p:nvSpPr>
        <p:spPr>
          <a:xfrm rot="0" flipH="0" flipV="0">
            <a:off x="381000" y="5781675"/>
            <a:ext cx="11430000" cy="581025"/>
          </a:xfrm>
          <a:prstGeom prst="roundRect">
            <a:avLst>
              <a:gd name="adj" fmla="val 1311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71500" y="59721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066800" y="5915025"/>
            <a:ext cx="51625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识别结果直接换算营养数据，打通「训练消耗—饮食摄入」热量闭环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超会练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智能运动健康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0" name="" descr="&lt;Slide&gt;&#10;  &lt;Box style={{ width: '100%', height: '100%', background: '#FFFFFF', flexDirection: 'column' }}&gt;&#10;    &lt;Box style={{ width: '100%', height: 56, background: '#1E4FA8', flexDirection: 'row', alignItems: 'center', justifyContent: 'space-between', paddingLeft: 40, paddingRight: 40 }}&gt;&#10;      &lt;Text style={{ fontSize: 20, fontWeight: 'bold', color: '#FFFFFF' }}&gt;AI 食物识别 · 模型对比&lt;/Text&gt;&#10;      &lt;Text style={{ fontSize: 14, color: '#E8EFF8' }}&gt;超会练 · 智能运动健康&lt;/Text&gt;&#10;    &lt;/Box&gt;&#10;    &lt;Box style={{ flex: 1, paddingLeft: 40, paddingRight: 40, paddingTop: 24, paddingBottom: 12, flexDirection: 'row', gap: 24 }}&gt;&#10;      &lt;Box style={{ flex: 3 }}&gt;&#10;        &lt;Table&#10;          style={{ width: '100%', height: '100%' }}&#10;          defaultTextStyle={{ fontSize: 16, textAlign: 'center', color: '#1A2230' }}&#10;          defaultCellStyle={{&#10;            border: {&#10;              left: { width: 1, color: '#D6DCE5' },&#10;              right: { width: 1, color: '#D6DCE5' },&#10;              top: { width: 1, color: '#D6DCE5' },&#10;              bottom: { width: 1, color: '#D6DCE5' },&#10;            },&#10;          }}&#10;          cells={[&#10;            [&#10;              { text: '维度', textStyle: { bold: true, color: '#FFFFFF' }, cellStyle: { background: { color: '#1E4FA8' } } },&#10;              { text: '云视觉大模型（豆包）', textStyle: { bold: true, color: '#FFFFFF' }, cellStyle: { background: { color: '#1E4FA8' } } },&#10;              { text: '本地 CNN（208 类）', textStyle: { bold: true, color: '#FFFFFF' }, cellStyle: { background: { color: '#1E4FA8' } } },&#10;            ],&#10;            [&#10;              { text: '识别范围', textStyle: { bold: true, color: '#0E3F8C' } },&#10;              '任意食物（水果 / 生鲜 / 外卖）',&#10;              '208 类中国菜',&#10;            ],&#10;            [&#10;              { text: '网络依赖', textStyle: { bold: true, color: '#0E3F8C' }, cellStyle: { background: { color: '#F0F5FC' } } },&#10;              { text: '需联网', cellStyle: { background: { color: '#F0F5FC' } } },&#10;              { text: '完全离线', cellStyle: { background: { color: '#F0F5FC' } } },&#10;            ],&#10;            [&#10;              { text: '响应速度', textStyle: { bold: true, color: '#0E3F8C' } },&#10;              '较慢',&#10;              '快',&#10;            ],&#10;            [&#10;              { text: '角色', textStyle: { bold: true, color: '#0E3F8C' }, cellStyle: { background: { color: '#F0F5FC' } } },&#10;              { text: '优先', textStyle: { bold: true, color: '#1E4FA8' }, cellStyle: { background: { color: '#F0F5FC' } } },&#10;              { text: '兜底', textStyle: { bold: true, color: '#1E4FA8' }, cellStyle: { background: { color: '#F0F5FC' } } },&#10;            ],&#10;          ]}&#10;        /&gt;&#10;      &lt;/Box&gt;&#10;      &lt;Box style={{ flex: 2, background: '#F7F9FC', borderRadius: 8, padding: 28, flexDirection: 'column', gap: 20, border: '1px solid #D6DCE5' }}&gt;&#10;        &lt;Text style={{ fontSize: 26, fontWeight: 'bold', color: '#0E3F8C' }}&gt;云 + 端协同&lt;/Text&gt;&#10;        &lt;Box style={{ width: 48, height: 4, background: '#1E4FA8' }} /&gt;&#10;        &lt;Text style={{ fontSize: 18, color: '#4A5568', lineHeight: 1.7 }}&gt;&#10;          联网时优先走 &lt;span style={{ fontWeight: 'bold', color: '#1E4FA8' }}&gt;云视觉大模型&lt;/span&gt;，识别水果、生鲜等任意食物；云不可用时自动降级 &lt;span style={{ fontWeight: 'bold', color: '#1E4FA8' }}&gt;本地 CNN&lt;/span&gt;&#10;        &lt;/Text&gt;&#10;        &lt;Text style={{ fontSize: 18, color: '#1A2230', lineHeight: 1.7, fontWeight: 'bold' }}&gt;&#10;          泛化能力与离线可用性互补，保证识别随时可用&#10;        &lt;/Text&gt;&#10;        &lt;Box style={{ marginTop: 'auto', background: '#E8EFF8', borderRadius: 6, paddingLeft: 16, paddingRight: 16, paddingTop: 12, paddingBottom: 12 }}&gt;&#10;          &lt;Text style={{ fontSize: 16, color: '#1E4FA8', lineHeight: 1.5 }}&gt;识别结果再匹配中国食物成分表，直接换算营养数据&lt;/Text&gt;&#10;        &lt;/Box&gt;&#10;      &lt;/Box&gt;&#10;    &lt;/Box&gt;&#10;    &lt;Box style={{ width: '100%', height: 40, flexDirection: 'row', alignItems: 'center', justifyContent: 'space-between', paddingLeft: 40, paddingRight: 40 }}&gt;&#10;      &lt;Text style={{ fontSize: 14, color: '#8B97A8' }}&gt;超会练 · 智能运动健康&lt;/Text&gt;&#10;      &lt;Text style={{ fontSize: 14, color: '#1E4FA8' }}&gt;10 / 12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0" y="0"/>
            <a:ext cx="12192000" cy="533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1990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食物识别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模型对比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496550" y="1905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超会练</a:t>
            </a:r>
            <a:r>
              <a:rPr lang="en-US" sz="10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E8EFF8"/>
                </a:solidFill>
                <a:latin typeface="Microsoft YaHei"/>
                <a:ea typeface="Microsoft YaHei"/>
              </a:rPr>
              <a:t>智能运动健康</a:t>
            </a:r>
            <a:endParaRPr/>
          </a:p>
        </p:txBody>
      </p:sp>
      <p:graphicFrame>
        <p:nvGraphicFramePr>
          <p:cNvPr id="15" name=""/>
          <p:cNvGraphicFramePr/>
          <p:nvPr/>
        </p:nvGraphicFramePr>
        <p:xfrm rot="0" flipH="0" flipV="0">
          <a:off x="381000" y="762000"/>
          <a:ext cx="6724650" cy="5600700"/>
        </p:xfrm>
        <a:graphic>
          <a:graphicData uri="http://schemas.openxmlformats.org/drawingml/2006/table">
            <a:tbl>
              <a:tblGrid>
                <a:gridCol w="1040215">
                  <a:extLst>
                    <a:ext uri="{9D8B030D-6E8A-4147-A177-3AD203B41FA5}">
                      <a16:colId val="1"/>
                    </a:ext>
                  </a:extLst>
                </a:gridCol>
                <a:gridCol w="3315685">
                  <a:extLst>
                    <a:ext uri="{9D8B030D-6E8A-4147-A177-3AD203B41FA5}">
                      <a16:colId val="2"/>
                    </a:ext>
                  </a:extLst>
                </a:gridCol>
                <a:gridCol w="236875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11201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云视觉大模型（豆包）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本地 CNN（208 类）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11201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识别范围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任意食物（水果 / 生鲜 / 外卖）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208 类中国菜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11201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网络依赖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需联网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完全离线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11201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响应速度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较慢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11201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角色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优先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兜底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6" name=""/>
          <p:cNvSpPr/>
          <p:nvPr/>
        </p:nvSpPr>
        <p:spPr>
          <a:xfrm rot="0" flipH="0" flipV="0">
            <a:off x="7334250" y="762000"/>
            <a:ext cx="4476750" cy="5600700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600950" y="1028700"/>
            <a:ext cx="3943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云</a:t>
            </a: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 + </a:t>
            </a: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端协同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7600950" y="1524000"/>
            <a:ext cx="4572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600950" y="1752600"/>
            <a:ext cx="39433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联网时优先走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云视觉大模型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，识别水果、生鲜等任意食物；云不可用时自动降级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本地</a:t>
            </a: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 CNN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600950" y="2647950"/>
            <a:ext cx="394335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泛化能力与离线可用性互补，保证识别随时可用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7600950" y="5591175"/>
            <a:ext cx="3943350" cy="504825"/>
          </a:xfrm>
          <a:prstGeom prst="roundRect">
            <a:avLst>
              <a:gd name="adj" fmla="val 1132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753350" y="5705475"/>
            <a:ext cx="36385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E4FA8"/>
                </a:solidFill>
                <a:latin typeface="Microsoft YaHei"/>
                <a:ea typeface="Microsoft YaHei"/>
              </a:rPr>
              <a:t>识别结果再匹配中国食物成分表，直接换算营养数据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1314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超会练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智能运动健康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353800" y="6591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5" name="" descr="&lt;Slide&gt;&#10;  &lt;Box style={{ width: '100%', height: '100%', background: '#FFFFFF', flexDirection: 'column' }}&gt;&#10;    &lt;Box style={{ width: '100%', height: 16, background: '#1E4FA8' }} /&gt;&#10;    &lt;Box style={{ flex: 1, flexDirection: 'row', alignItems: 'center', paddingLeft: 80, paddingRight: 80, gap: 60 }}&gt;&#10;      &lt;Box style={{ width: 360, flexDirection: 'column', alignItems: 'center', justifyContent: 'center', gap: 12 }}&gt;&#10;        &lt;Text style={{ fontSize: 180, fontWeight: 'bold', color: '#0E3F8C' }}&gt;3&lt;/Text&gt;&#10;        &lt;Text style={{ fontSize: 24, fontWeight: 'bold', color: '#1A2230' }}&gt;层可视化&lt;/Text&gt;&#10;        &lt;Text style={{ fontSize: 17, color: '#8B97A8', textAlign: 'center' }}&gt;架构 · 过程 · 模型差异&lt;/Text&gt;&#10;      &lt;/Box&gt;&#10;      &lt;Box style={{ flex: 1, flexDirection: 'column', gap: 28 }}&gt;&#10;        &lt;Box style={{ flexDirection: 'row', gap: 20, alignItems: 'flex-start' }}&gt;&#10;          &lt;Box style={{ width: 48, height: 48, background: '#1E4FA8', borderRadius: 24, alignItems: 'center', justifyContent: 'center', flexShrink: 0 }}&gt;&#10;            &lt;Text style={{ fontSize: 22, fontWeight: 'bold', color: '#FFFFFF' }}&gt;1&lt;/Text&gt;&#10;          &lt;/Box&gt;&#10;          &lt;Box style={{ flex: 1, flexDirection: 'column', gap: 6 }}&gt;&#10;            &lt;Text style={{ fontSize: 22, fontWeight: 'bold', color: '#1A2230' }}&gt;过程可解释&lt;/Text&gt;&#10;            &lt;Text style={{ fontSize: 17, color: '#4A5568', lineHeight: 1.6 }}&gt;抽帧、姿态估计、营养计算每一步都有据可查，不是端到端黑盒&lt;/Text&gt;&#10;          &lt;/Box&gt;&#10;        &lt;/Box&gt;&#10;        &lt;Box style={{ flexDirection: 'row', gap: 20, alignItems: 'flex-start' }}&gt;&#10;          &lt;Box style={{ width: 48, height: 48, background: '#1E4FA8', borderRadius: 24, alignItems: 'center', justifyContent: 'center', flexShrink: 0 }}&gt;&#10;            &lt;Text style={{ fontSize: 22, fontWeight: 'bold', color: '#FFFFFF' }}&gt;2&lt;/Text&gt;&#10;          &lt;/Box&gt;&#10;          &lt;Box style={{ flex: 1, flexDirection: 'column', gap: 6 }}&gt;&#10;            &lt;Text style={{ fontSize: 22, fontWeight: 'bold', color: '#1A2230' }}&gt;模型有选型深度&lt;/Text&gt;&#10;            &lt;Text style={{ fontSize: 17, color: '#4A5568', lineHeight: 1.6 }}&gt;动作纠错「主 + 回退」、食物识别「云 + 端」，处处是工程化权衡&lt;/Text&gt;&#10;          &lt;/Box&gt;&#10;        &lt;/Box&gt;&#10;        &lt;Box style={{ flexDirection: 'row', gap: 20, alignItems: 'flex-start' }}&gt;&#10;          &lt;Box style={{ width: 48, height: 48, background: '#1E4FA8', borderRadius: 24, alignItems: 'center', justifyContent: 'center', flexShrink: 0 }}&gt;&#10;            &lt;Text style={{ fontSize: 22, fontWeight: 'bold', color: '#FFFFFF' }}&gt;3&lt;/Text&gt;&#10;          &lt;/Box&gt;&#10;          &lt;Box style={{ flex: 1, flexDirection: 'column', gap: 6 }}&gt;&#10;            &lt;Text style={{ fontSize: 22, fontWeight: 'bold', color: '#1A2230' }}&gt;降级容错可靠&lt;/Text&gt;&#10;            &lt;Text style={{ fontSize: 17, color: '#4A5568', lineHeight: 1.6 }}&gt;离线可用、云失败自动兜底，产品落地稳健，不依赖单一模型&lt;/Text&gt;&#10;          &lt;/Box&gt;&#10;        &lt;/Box&gt;&#10;        &lt;Box style={{ background: '#F0F5FC', borderRadius: 8, paddingLeft: 20, paddingRight: 20, paddingTop: 14, paddingBottom: 14 }}&gt;&#10;          &lt;Text style={{ fontSize: 18, color: '#0E3F8C', lineHeight: 1.5, fontWeight: 'bold' }}&gt;可视化是技术可信度的放大器——让评委「看到」而非「听说」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0" y="0"/>
            <a:ext cx="12192000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943100" y="2124075"/>
            <a:ext cx="1066800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>
                <a:solidFill>
                  <a:srgbClr val="0E3F8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019300" y="429577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层可视化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695450" y="4686300"/>
            <a:ext cx="157162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架构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过程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模型差异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4762500" y="18764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924425" y="19812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5410200" y="1876425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过程可解释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410200" y="2190750"/>
            <a:ext cx="6019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抽帧、姿态估计、营养计算每一步都有据可查，不是端到端黑盒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4762500" y="27717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924425" y="28765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410200" y="2771775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模型有选型深度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410200" y="3086100"/>
            <a:ext cx="6019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动作纠错「主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回退」、食物识别「云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端」，处处是工程化权衡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4762500" y="36671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924425" y="377190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410200" y="3667125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降级容错可靠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410200" y="3981450"/>
            <a:ext cx="6019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离线可用、云失败自动兜底，产品落地稳健，不依赖单一模型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762500" y="4562475"/>
            <a:ext cx="6667500" cy="581025"/>
          </a:xfrm>
          <a:prstGeom prst="roundRect">
            <a:avLst>
              <a:gd name="adj" fmla="val 1311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953000" y="4695825"/>
            <a:ext cx="6286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可视化是技术可信度的放大器——让评委「看到」而非「听说」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5" name="" descr="&lt;Slide&gt;&#10;  &lt;Box style={{ width: '100%', height: '100%', background: '#FFFFFF', flexDirection: 'column' }}&gt;&#10;    &lt;Box style={{ width: '100%', height: 16, background: '#1E4FA8' }} /&gt;&#10;    &lt;Box style={{ flex: 1, flexDirection: 'column', justifyContent: 'center', alignItems: 'center', gap: 28 }}&gt;&#10;      &lt;Text style={{ fontSize: 20, color: '#3D7BD9', letterSpacing: 6 }}&gt;THANK YOU&lt;/Text&gt;&#10;      &lt;Text style={{ fontSize: 52, fontWeight: 'bold', color: '#0E3F8C' }}&gt;让 AI 的每一步，都看得见&lt;/Text&gt;&#10;      &lt;Box style={{ width: 140, height: 4, background: '#1E4FA8', borderRadius: 2 }} /&gt;&#10;      &lt;Text style={{ fontSize: 22, color: '#4A5568' }}&gt;超会练 · 智能运动健康小程序&lt;/Text&gt;&#10;    &lt;/Box&gt;&#10;    &lt;Box style={{ width: '100%', flexDirection: 'row', justifyContent: 'center', paddingBottom: 32, paddingTop: 20 }}&gt;&#10;      &lt;Text style={{ fontSize: 16, color: '#8B97A8' }}&gt;动作纠错 · 食物识别 · 训练营养闭环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0" y="0"/>
            <a:ext cx="12192000" cy="1524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267325" y="2200275"/>
            <a:ext cx="1657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50">
                <a:solidFill>
                  <a:srgbClr val="3D7BD9"/>
                </a:solidFill>
                <a:latin typeface="Microsoft YaHei"/>
                <a:ea typeface="Microsoft YaHei"/>
              </a:rPr>
              <a:t>THANK YOU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200400" y="2695575"/>
            <a:ext cx="57912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0E3F8C"/>
                </a:solidFill>
                <a:latin typeface="Microsoft YaHei"/>
                <a:ea typeface="Microsoft YaHei"/>
              </a:rPr>
              <a:t>让</a:t>
            </a:r>
            <a:r>
              <a:rPr lang="en-US" sz="3900" b="1">
                <a:solidFill>
                  <a:srgbClr val="0E3F8C"/>
                </a:solidFill>
                <a:latin typeface="Microsoft YaHei"/>
                <a:ea typeface="Microsoft YaHei"/>
              </a:rPr>
              <a:t> AI </a:t>
            </a:r>
            <a:r>
              <a:rPr lang="zh-CN" sz="3900" b="1">
                <a:solidFill>
                  <a:srgbClr val="0E3F8C"/>
                </a:solidFill>
                <a:latin typeface="Microsoft YaHei"/>
                <a:ea typeface="Microsoft YaHei"/>
              </a:rPr>
              <a:t>的每一步，都看得见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429250" y="356235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752975" y="3867150"/>
            <a:ext cx="2695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超会练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智能运动健康小程序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905375" y="6362700"/>
            <a:ext cx="2390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动作纠错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食物识别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训练营养闭环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2026-09-17T22:54:30Z</dcterms:created>
  <dcterms:modified xsi:type="dcterms:W3CDTF">2026-09-17T22:54:30Z</dcterms:modified>
</cp:coreProperties>
</file>